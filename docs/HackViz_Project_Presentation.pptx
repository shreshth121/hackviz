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8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5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7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7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0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7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7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6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0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5090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90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8819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40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20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4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34103" y="1426778"/>
            <a:ext cx="41342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F8FC"/>
                </a:solidFill>
                <a:latin typeface="Aptos"/>
              </a:defRPr>
            </a:pPr>
            <a:r>
              <a:rPr sz="5400" dirty="0" err="1"/>
              <a:t>HackViz</a:t>
            </a:r>
            <a:endParaRPr sz="5400" dirty="0"/>
          </a:p>
        </p:txBody>
      </p:sp>
      <p:sp>
        <p:nvSpPr>
          <p:cNvPr id="21" name="TextBox 20"/>
          <p:cNvSpPr txBox="1"/>
          <p:nvPr/>
        </p:nvSpPr>
        <p:spPr>
          <a:xfrm>
            <a:off x="2849727" y="2659558"/>
            <a:ext cx="6492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D3BF"/>
                </a:solidFill>
                <a:latin typeface="Aptos"/>
              </a:defRPr>
            </a:pPr>
            <a:r>
              <a:rPr dirty="0"/>
              <a:t>Explainable, Transfer-Learning-Enabled</a:t>
            </a:r>
            <a:br>
              <a:rPr dirty="0"/>
            </a:br>
            <a:r>
              <a:rPr lang="en-US" dirty="0" smtClean="0"/>
              <a:t>            </a:t>
            </a:r>
            <a:r>
              <a:rPr dirty="0" smtClean="0"/>
              <a:t>Insider-Threat </a:t>
            </a:r>
            <a:r>
              <a:rPr dirty="0"/>
              <a:t>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9160" y="425376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rPr sz="1600" dirty="0"/>
              <a:t>Project Team  •  </a:t>
            </a:r>
            <a:r>
              <a:rPr sz="1600" dirty="0" err="1"/>
              <a:t>Shreshth</a:t>
            </a:r>
            <a:r>
              <a:rPr sz="1600" dirty="0"/>
              <a:t>  •  </a:t>
            </a:r>
            <a:r>
              <a:rPr sz="1600" dirty="0" err="1"/>
              <a:t>Lakshit</a:t>
            </a:r>
            <a:r>
              <a:rPr sz="1600" dirty="0"/>
              <a:t>  •  </a:t>
            </a:r>
            <a:r>
              <a:rPr sz="1600" dirty="0" err="1"/>
              <a:t>Geetansh</a:t>
            </a:r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3807968" y="4694337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8CB"/>
                </a:solidFill>
                <a:latin typeface="Aptos"/>
              </a:defRPr>
            </a:pPr>
            <a:r>
              <a:rPr sz="1600" dirty="0" err="1"/>
              <a:t>Thapar</a:t>
            </a:r>
            <a:r>
              <a:rPr sz="1600" dirty="0"/>
              <a:t> Institute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12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Why insider-threat detection needs behavioural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6583680" cy="42976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From isolated events → behavioural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5852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Static SIEM rules depend on predefined thresholds and patterns.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Legitimate employees can naturally produce unusual-looking events.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Sophisticated insider activity may not match a predefined rule.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Raw logs are heterogeneous and lose meaning when treated as independent rows.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Security teams need ranked, explainable alerts—not just an opaque risk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3BF"/>
                </a:solidFill>
                <a:latin typeface="Aptos"/>
              </a:defRPr>
            </a:pPr>
            <a:r>
              <a:t>Goal: learn what “normal” looks like for each user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23360" cy="42976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B8CB"/>
                </a:solidFill>
                <a:latin typeface="Aptos"/>
              </a:defRPr>
            </a:pPr>
            <a:r>
              <a:t>Typical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8CB"/>
                </a:solidFill>
                <a:latin typeface="Aptos"/>
              </a:defRPr>
            </a:pPr>
            <a:r>
              <a:t>08:55</a:t>
            </a:r>
          </a:p>
        </p:txBody>
      </p:sp>
      <p:sp>
        <p:nvSpPr>
          <p:cNvPr id="12" name="Oval 11"/>
          <p:cNvSpPr/>
          <p:nvPr/>
        </p:nvSpPr>
        <p:spPr>
          <a:xfrm>
            <a:off x="8641080" y="2340863"/>
            <a:ext cx="164592" cy="164592"/>
          </a:xfrm>
          <a:prstGeom prst="ellipse">
            <a:avLst/>
          </a:prstGeom>
          <a:solidFill>
            <a:srgbClr val="4C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Logon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86207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8CB"/>
                </a:solidFill>
                <a:latin typeface="Aptos"/>
              </a:defRPr>
            </a:pPr>
            <a:r>
              <a:t>09:12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0" y="2871215"/>
            <a:ext cx="164592" cy="164592"/>
          </a:xfrm>
          <a:prstGeom prst="ellipse">
            <a:avLst/>
          </a:prstGeom>
          <a:solidFill>
            <a:srgbClr val="4C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28620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File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39242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8CB"/>
                </a:solidFill>
                <a:latin typeface="Aptos"/>
              </a:defRPr>
            </a:pPr>
            <a:r>
              <a:t>09:48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3401568"/>
            <a:ext cx="164592" cy="164592"/>
          </a:xfrm>
          <a:prstGeom prst="ellipse">
            <a:avLst/>
          </a:prstGeom>
          <a:solidFill>
            <a:srgbClr val="4C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3392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9227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8CB"/>
                </a:solidFill>
                <a:latin typeface="Aptos"/>
              </a:defRPr>
            </a:pPr>
            <a:r>
              <a:t>11:06</a:t>
            </a:r>
          </a:p>
        </p:txBody>
      </p:sp>
      <p:sp>
        <p:nvSpPr>
          <p:cNvPr id="21" name="Oval 20"/>
          <p:cNvSpPr/>
          <p:nvPr/>
        </p:nvSpPr>
        <p:spPr>
          <a:xfrm>
            <a:off x="8641080" y="3931920"/>
            <a:ext cx="164592" cy="164592"/>
          </a:xfrm>
          <a:prstGeom prst="ellipse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39227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4531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8CB"/>
                </a:solidFill>
                <a:latin typeface="Aptos"/>
              </a:defRPr>
            </a:pPr>
            <a:r>
              <a:t>14:21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4462272"/>
            <a:ext cx="164592" cy="164592"/>
          </a:xfrm>
          <a:prstGeom prst="ellipse">
            <a:avLst/>
          </a:prstGeom>
          <a:solidFill>
            <a:srgbClr val="F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0" y="44531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USB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9834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An event can be harmless alone,</a:t>
            </a:r>
            <a:br/>
            <a:r>
              <a:t>but suspicious in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HackViz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One behavioural pipeline from raw activity to analyst-ready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29260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1993392"/>
            <a:ext cx="475488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5786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CERT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54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8CB"/>
                </a:solidFill>
                <a:latin typeface="Aptos"/>
              </a:defRPr>
            </a:pPr>
            <a:r>
              <a:t>Logon • File • Device</a:t>
            </a:r>
            <a:br/>
            <a:r>
              <a:t>Email • HTTP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273552"/>
            <a:ext cx="24688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828800"/>
            <a:ext cx="1965960" cy="29260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53512" y="1993392"/>
            <a:ext cx="475488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5786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Unified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154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8CB"/>
                </a:solidFill>
                <a:latin typeface="Aptos"/>
              </a:defRPr>
            </a:pPr>
            <a:r>
              <a:t>Normalize • Encode</a:t>
            </a:r>
            <a:br/>
            <a:r>
              <a:t>Preserve timestamps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79" y="3273552"/>
            <a:ext cx="24688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828800"/>
            <a:ext cx="1965960" cy="29260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39512" y="1993392"/>
            <a:ext cx="475488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5786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User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3154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8CB"/>
                </a:solidFill>
                <a:latin typeface="Aptos"/>
              </a:defRPr>
            </a:pPr>
            <a:r>
              <a:t>User → Day →</a:t>
            </a:r>
            <a:br/>
            <a:r>
              <a:t>Chronological events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79" y="3273552"/>
            <a:ext cx="24688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60920" y="1828800"/>
            <a:ext cx="1965960" cy="29260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25512" y="1993392"/>
            <a:ext cx="475488" cy="347472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5786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Sequence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3154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8CB"/>
                </a:solidFill>
                <a:latin typeface="Aptos"/>
              </a:defRPr>
            </a:pPr>
            <a:r>
              <a:t>LSTM / GRU</a:t>
            </a:r>
            <a:br/>
            <a:r>
              <a:t>Transformer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0" y="3273552"/>
            <a:ext cx="24688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1828800"/>
            <a:ext cx="1965960" cy="292608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11512" y="1993392"/>
            <a:ext cx="475488" cy="347472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5786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Anomaly + 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1546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8CB"/>
                </a:solidFill>
                <a:latin typeface="Aptos"/>
              </a:defRPr>
            </a:pPr>
            <a:r>
              <a:t>Score → evidence</a:t>
            </a:r>
            <a:br/>
            <a:r>
              <a:t>→ analyst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57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D3BF"/>
                </a:solidFill>
                <a:latin typeface="Aptos"/>
              </a:defRPr>
            </a:pPr>
            <a:r>
              <a:t>Design principle: the same preprocessing + temporal representation is shared across model variants for a fair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Heterogeneous Data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Turn five activity sources into one behavioural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880360" cy="6583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1746504"/>
            <a:ext cx="713232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LOGON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7556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Authentication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880360" cy="6583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" y="2496312"/>
            <a:ext cx="713232" cy="347472"/>
          </a:xfrm>
          <a:prstGeom prst="roundRect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50545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File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9815"/>
            <a:ext cx="2880360" cy="6583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6384" y="3246120"/>
            <a:ext cx="713232" cy="347472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255263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Device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9624"/>
            <a:ext cx="2880360" cy="6583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6384" y="3995928"/>
            <a:ext cx="713232" cy="347472"/>
          </a:xfrm>
          <a:prstGeom prst="roundRect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005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Email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99432"/>
            <a:ext cx="2880360" cy="6583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6384" y="4745736"/>
            <a:ext cx="713232" cy="347472"/>
          </a:xfrm>
          <a:prstGeom prst="roundRect">
            <a:avLst/>
          </a:prstGeom>
          <a:solidFill>
            <a:srgbClr val="4C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754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Web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1554480"/>
            <a:ext cx="7543800" cy="443484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1810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Unified behavioural timeline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331720"/>
            <a:ext cx="1051560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USER U17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331720"/>
            <a:ext cx="822960" cy="347472"/>
          </a:xfrm>
          <a:prstGeom prst="roundRect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8FC"/>
                </a:solidFill>
                <a:latin typeface="Aptos"/>
              </a:defRPr>
            </a:pPr>
            <a:r>
              <a:t>DAY 12</a:t>
            </a:r>
          </a:p>
        </p:txBody>
      </p:sp>
      <p:sp>
        <p:nvSpPr>
          <p:cNvPr id="24" name="Oval 23"/>
          <p:cNvSpPr/>
          <p:nvPr/>
        </p:nvSpPr>
        <p:spPr>
          <a:xfrm>
            <a:off x="4434840" y="3154680"/>
            <a:ext cx="201168" cy="201168"/>
          </a:xfrm>
          <a:prstGeom prst="ellipse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0248" y="2743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09:02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7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Logon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36007" y="3255264"/>
            <a:ext cx="877824" cy="0"/>
          </a:xfrm>
          <a:prstGeom prst="line">
            <a:avLst/>
          </a:prstGeom>
          <a:ln w="1905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50407" y="3154680"/>
            <a:ext cx="201168" cy="201168"/>
          </a:xfrm>
          <a:prstGeom prst="ellipse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85816" y="2743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09:15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4375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File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51575" y="3255264"/>
            <a:ext cx="877824" cy="0"/>
          </a:xfrm>
          <a:prstGeom prst="line">
            <a:avLst/>
          </a:prstGeom>
          <a:ln w="1905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665975" y="3154680"/>
            <a:ext cx="201168" cy="201168"/>
          </a:xfrm>
          <a:prstGeom prst="ellipse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01383" y="2743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09:41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3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Email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67143" y="3255264"/>
            <a:ext cx="877824" cy="0"/>
          </a:xfrm>
          <a:prstGeom prst="line">
            <a:avLst/>
          </a:prstGeom>
          <a:ln w="1905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781544" y="3154680"/>
            <a:ext cx="201168" cy="201168"/>
          </a:xfrm>
          <a:prstGeom prst="ellipse">
            <a:avLst/>
          </a:prstGeom>
          <a:solidFill>
            <a:srgbClr val="4C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16952" y="2743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10:08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HTTP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82712" y="3255264"/>
            <a:ext cx="877824" cy="0"/>
          </a:xfrm>
          <a:prstGeom prst="line">
            <a:avLst/>
          </a:prstGeom>
          <a:ln w="1905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897112" y="3154680"/>
            <a:ext cx="201168" cy="201168"/>
          </a:xfrm>
          <a:prstGeom prst="ellipse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32520" y="2743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12:30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Device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98280" y="3255264"/>
            <a:ext cx="877824" cy="0"/>
          </a:xfrm>
          <a:prstGeom prst="line">
            <a:avLst/>
          </a:prstGeom>
          <a:ln w="1905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012680" y="3154680"/>
            <a:ext cx="201168" cy="201168"/>
          </a:xfrm>
          <a:prstGeom prst="ellipse">
            <a:avLst/>
          </a:prstGeom>
          <a:solidFill>
            <a:srgbClr val="F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48088" y="2743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13:05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4251960"/>
            <a:ext cx="6537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3BF"/>
                </a:solidFill>
                <a:latin typeface="Aptos"/>
              </a:defRPr>
            </a:pPr>
            <a:r>
              <a:t>Sessionization + feature encoding → model-ready sequence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5074920"/>
            <a:ext cx="6537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8CB"/>
                </a:solidFill>
                <a:latin typeface="Aptos"/>
              </a:defRPr>
            </a:pPr>
            <a:r>
              <a:t>Labels stay separate and are used for evaluation, reducing leakage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Multi-Architecture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Same input, same evaluation framework — different sequence modelling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566160" cy="3429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960120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LSTM / GRU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8CB"/>
                </a:solidFill>
                <a:latin typeface="Aptos"/>
              </a:defRPr>
            </a:pPr>
            <a:r>
              <a:t>Learns local &amp; short-range behavioural dependencies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434840"/>
            <a:ext cx="347472" cy="347472"/>
          </a:xfrm>
          <a:prstGeom prst="ellipse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444752" y="4608576"/>
            <a:ext cx="457200" cy="0"/>
          </a:xfrm>
          <a:prstGeom prst="line">
            <a:avLst/>
          </a:prstGeom>
          <a:ln w="1905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20240" y="4434840"/>
            <a:ext cx="347472" cy="347472"/>
          </a:xfrm>
          <a:prstGeom prst="ellipse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2267712" y="4608576"/>
            <a:ext cx="457200" cy="0"/>
          </a:xfrm>
          <a:prstGeom prst="line">
            <a:avLst/>
          </a:prstGeom>
          <a:ln w="1905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4434840"/>
            <a:ext cx="347472" cy="347472"/>
          </a:xfrm>
          <a:prstGeom prst="ellipse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645920"/>
            <a:ext cx="3566160" cy="3429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17720" y="1874519"/>
            <a:ext cx="960120" cy="347472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Long-range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8CB"/>
                </a:solidFill>
                <a:latin typeface="Aptos"/>
              </a:defRPr>
            </a:pPr>
            <a:r>
              <a:t>Self-attention captures relationships across distant events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4434840"/>
            <a:ext cx="347472" cy="347472"/>
          </a:xfrm>
          <a:prstGeom prst="ellipse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5239512" y="4608576"/>
            <a:ext cx="457200" cy="0"/>
          </a:xfrm>
          <a:prstGeom prst="line">
            <a:avLst/>
          </a:prstGeom>
          <a:ln w="19050">
            <a:solidFill>
              <a:srgbClr val="9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15000" y="4434840"/>
            <a:ext cx="347472" cy="347472"/>
          </a:xfrm>
          <a:prstGeom prst="ellipse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6062472" y="4608576"/>
            <a:ext cx="457200" cy="0"/>
          </a:xfrm>
          <a:prstGeom prst="line">
            <a:avLst/>
          </a:prstGeom>
          <a:ln w="19050">
            <a:solidFill>
              <a:srgbClr val="9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537960" y="4434840"/>
            <a:ext cx="347472" cy="347472"/>
          </a:xfrm>
          <a:prstGeom prst="ellipse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83880" y="1645920"/>
            <a:ext cx="3566160" cy="3429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0" y="1874519"/>
            <a:ext cx="960120" cy="347472"/>
          </a:xfrm>
          <a:prstGeom prst="roundRect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Combined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68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Hybrid LSTM + 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8CB"/>
                </a:solidFill>
                <a:latin typeface="Aptos"/>
              </a:defRPr>
            </a:pPr>
            <a:r>
              <a:t>Order-sensitive recurrence + attention-based dependency modelling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0" y="4434840"/>
            <a:ext cx="347472" cy="347472"/>
          </a:xfrm>
          <a:prstGeom prst="ellipse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9034272" y="4608576"/>
            <a:ext cx="457200" cy="0"/>
          </a:xfrm>
          <a:prstGeom prst="line">
            <a:avLst/>
          </a:prstGeom>
          <a:ln w="19050">
            <a:solidFill>
              <a:srgbClr val="FFA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09760" y="4434840"/>
            <a:ext cx="347472" cy="347472"/>
          </a:xfrm>
          <a:prstGeom prst="ellipse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9857232" y="4608576"/>
            <a:ext cx="457200" cy="0"/>
          </a:xfrm>
          <a:prstGeom prst="line">
            <a:avLst/>
          </a:prstGeom>
          <a:ln w="19050">
            <a:solidFill>
              <a:srgbClr val="FFA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332720" y="4434840"/>
            <a:ext cx="347472" cy="347472"/>
          </a:xfrm>
          <a:prstGeom prst="ellipse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3BF"/>
                </a:solidFill>
                <a:latin typeface="Aptos"/>
              </a:defRPr>
            </a:pPr>
            <a:r>
              <a:t>The novelty is not “using LSTM” or “using Transformers” alone — it is the controlled empirical comparison on the same behavioural representation.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Transfer Learning for the Cold-Start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Can prior behavioural knowledge reduce the history needed for a new environment?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29200" cy="425196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  <a:latin typeface="Aptos"/>
              </a:defRPr>
            </a:pPr>
            <a:r>
              <a:t>CERT r4.2  →  CERT r6.2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606040"/>
            <a:ext cx="1554480" cy="960120"/>
          </a:xfrm>
          <a:prstGeom prst="roundRect">
            <a:avLst/>
          </a:prstGeom>
          <a:solidFill>
            <a:srgbClr val="17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852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3BF"/>
                </a:solidFill>
                <a:latin typeface="Aptos"/>
              </a:defRPr>
            </a:pPr>
            <a:r>
              <a:t>Generic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3090672"/>
            <a:ext cx="1005840" cy="0"/>
          </a:xfrm>
          <a:prstGeom prst="line">
            <a:avLst/>
          </a:prstGeom>
          <a:ln w="3175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2606040"/>
            <a:ext cx="1554480" cy="960120"/>
          </a:xfrm>
          <a:prstGeom prst="roundRect">
            <a:avLst/>
          </a:prstGeom>
          <a:solidFill>
            <a:srgbClr val="17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852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Local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B8CB"/>
                </a:solidFill>
                <a:latin typeface="Aptos"/>
              </a:defRPr>
            </a:pPr>
            <a:r>
              <a:t>Compare against training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8FC"/>
                </a:solidFill>
                <a:latin typeface="Aptos"/>
              </a:defRPr>
            </a:pPr>
            <a:r>
              <a:t>Day 5     Day 10     Day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B8CB"/>
                </a:solidFill>
                <a:latin typeface="Aptos"/>
              </a:defRPr>
            </a:pPr>
            <a:r>
              <a:t>amount of user history 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45920"/>
            <a:ext cx="5532120" cy="425196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23160"/>
            <a:ext cx="4709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3BF"/>
                </a:solidFill>
                <a:latin typeface="Aptos"/>
              </a:defRPr>
            </a:pPr>
            <a:r>
              <a:t>How much behavioural history is enough</a:t>
            </a:r>
            <a:br/>
            <a:r>
              <a:t>to obtain useful detection after adaptation?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5760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Measure F1 and false-positive rate at each history level.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Test transfer learning versus from-scratch training.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Quantify whether cold-start effort can be reduced.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Analyst-Facing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Move from “anomaly score = high” to “these events made it suspicious”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840480" cy="448056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AB8CB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5F8FC"/>
                </a:solidFill>
                <a:latin typeface="Aptos"/>
              </a:defRPr>
            </a:pPr>
            <a:r>
              <a:t>User U17  •  High anomaly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8CB"/>
                </a:solidFill>
                <a:latin typeface="Aptos"/>
              </a:defRPr>
            </a:pPr>
            <a:r>
              <a:t>Anomaly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55B5B"/>
                </a:solidFill>
                <a:latin typeface="Aptos"/>
              </a:defRPr>
            </a:pPr>
            <a:r>
              <a:t>0.92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AB8CB"/>
                </a:solidFill>
                <a:latin typeface="Aptos"/>
              </a:defRPr>
            </a:pPr>
            <a:r>
              <a:t>Analyst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Unusual file activity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Rare device usage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Unexpected event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54480"/>
            <a:ext cx="6766560" cy="448056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Behavioural sequence — highlighted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788920"/>
            <a:ext cx="914400" cy="1234440"/>
          </a:xfrm>
          <a:prstGeom prst="roundRect">
            <a:avLst/>
          </a:prstGeom>
          <a:solidFill>
            <a:srgbClr val="121F34"/>
          </a:solidFill>
          <a:ln w="19050">
            <a:solidFill>
              <a:srgbClr val="4CD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29260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09:02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33101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Logon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401568"/>
            <a:ext cx="164592" cy="0"/>
          </a:xfrm>
          <a:prstGeom prst="line">
            <a:avLst/>
          </a:prstGeom>
          <a:ln w="1651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2788920"/>
            <a:ext cx="914400" cy="1234440"/>
          </a:xfrm>
          <a:prstGeom prst="roundRect">
            <a:avLst/>
          </a:prstGeom>
          <a:solidFill>
            <a:srgbClr val="121F34"/>
          </a:solidFill>
          <a:ln w="19050">
            <a:solidFill>
              <a:srgbClr val="4CD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9260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09:15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3101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File access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0" y="3401568"/>
            <a:ext cx="164592" cy="0"/>
          </a:xfrm>
          <a:prstGeom prst="line">
            <a:avLst/>
          </a:prstGeom>
          <a:ln w="1651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69480" y="2788920"/>
            <a:ext cx="914400" cy="1234440"/>
          </a:xfrm>
          <a:prstGeom prst="roundRect">
            <a:avLst/>
          </a:prstGeom>
          <a:solidFill>
            <a:srgbClr val="121F34"/>
          </a:solidFill>
          <a:ln w="19050">
            <a:solidFill>
              <a:srgbClr val="FF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2632" y="29260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09:41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33101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Email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80" y="3401568"/>
            <a:ext cx="164592" cy="0"/>
          </a:xfrm>
          <a:prstGeom prst="line">
            <a:avLst/>
          </a:prstGeom>
          <a:ln w="1651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21040" y="2788920"/>
            <a:ext cx="914400" cy="1234440"/>
          </a:xfrm>
          <a:prstGeom prst="roundRect">
            <a:avLst/>
          </a:prstGeom>
          <a:solidFill>
            <a:srgbClr val="121F34"/>
          </a:solidFill>
          <a:ln w="19050">
            <a:solidFill>
              <a:srgbClr val="4CD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29260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10:08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3101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HTTP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35440" y="3401568"/>
            <a:ext cx="164592" cy="0"/>
          </a:xfrm>
          <a:prstGeom prst="line">
            <a:avLst/>
          </a:prstGeom>
          <a:ln w="1651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72600" y="2788920"/>
            <a:ext cx="914400" cy="1234440"/>
          </a:xfrm>
          <a:prstGeom prst="roundRect">
            <a:avLst/>
          </a:prstGeom>
          <a:solidFill>
            <a:srgbClr val="4B2A3A"/>
          </a:solidFill>
          <a:ln w="1905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45752" y="29260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12:30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3101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USB device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87000" y="3401568"/>
            <a:ext cx="164592" cy="0"/>
          </a:xfrm>
          <a:prstGeom prst="line">
            <a:avLst/>
          </a:prstGeom>
          <a:ln w="16510">
            <a:solidFill>
              <a:srgbClr val="AAB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24160" y="2788920"/>
            <a:ext cx="914400" cy="1234440"/>
          </a:xfrm>
          <a:prstGeom prst="roundRect">
            <a:avLst/>
          </a:prstGeom>
          <a:solidFill>
            <a:srgbClr val="4B2A3A"/>
          </a:solidFill>
          <a:ln w="1905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97312" y="29260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B8CB"/>
                </a:solidFill>
                <a:latin typeface="Aptos"/>
              </a:defRPr>
            </a:pPr>
            <a:r>
              <a:t>13:05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33101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File copy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448056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8CB"/>
                </a:solidFill>
                <a:latin typeface="Aptos"/>
              </a:defRPr>
            </a:pPr>
            <a:r>
              <a:t>Attention information / highlighted events are presented as supporting evidence for human review — not as proof of malicious intent.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Current Status &amp; Next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B"/>
                </a:solidFill>
                <a:latin typeface="Aptos"/>
              </a:defRPr>
            </a:pPr>
            <a:r>
              <a:t>Progress-report snapshot — what is completed, in progress, and planned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914400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52704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Problem + dataset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21991"/>
            <a:ext cx="914400" cy="347472"/>
          </a:xfrm>
          <a:prstGeom prst="roundRect">
            <a:avLst/>
          </a:prstGeom>
          <a:solidFill>
            <a:srgbClr val="2D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40279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Requirements, use cases, DFDs, SRS, user stories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35224"/>
            <a:ext cx="914400" cy="347472"/>
          </a:xfrm>
          <a:prstGeom prst="roundRect">
            <a:avLst/>
          </a:prstGeom>
          <a:solidFill>
            <a:srgbClr val="FFA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5351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CERT normalization + sessionization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48456"/>
            <a:ext cx="914400" cy="347472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666744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LSTM/GRU, Transformer + Hybrid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61688"/>
            <a:ext cx="914400" cy="347472"/>
          </a:xfrm>
          <a:prstGeom prst="roundRect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379976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Transfer-learning Day 5 / 10 / 20 experiments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914400" cy="347472"/>
          </a:xfrm>
          <a:prstGeom prst="roundRect">
            <a:avLst/>
          </a:prstGeom>
          <a:solidFill>
            <a:srgbClr val="4C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22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09320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Explainability + Streamlit analyst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23560"/>
            <a:ext cx="10698480" cy="438912"/>
          </a:xfrm>
          <a:prstGeom prst="roundRect">
            <a:avLst/>
          </a:prstGeom>
          <a:solidFill>
            <a:srgbClr val="17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D3BF"/>
                </a:solidFill>
                <a:latin typeface="Aptos"/>
              </a:defRPr>
            </a:pPr>
            <a:r>
              <a:t>Next milestone → model implementation + controlled evaluation + dashboard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562</Words>
  <Application>Microsoft Office PowerPoint</Application>
  <PresentationFormat>Widescreen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2026-09-07T20:09:45Z</dcterms:modified>
  <cp:category/>
</cp:coreProperties>
</file>